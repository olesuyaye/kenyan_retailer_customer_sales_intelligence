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94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eSuyaye/kenyan_retailer_customer_sales_intelligenc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" y="576072"/>
            <a:ext cx="1755648" cy="384048"/>
          </a:xfrm>
          <a:prstGeom prst="roundRect">
            <a:avLst>
              <a:gd name="adj" fmla="val 45238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824" y="676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MWANGAZA MINIMART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&amp; Sales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777240" y="2724912"/>
            <a:ext cx="63093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F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analytics capstone for a fictional Kenyan retail chain</a:t>
            </a:r>
          </a:p>
          <a:p>
            <a:pPr>
              <a:lnSpc>
                <a:spcPct val="120000"/>
              </a:lnSpc>
            </a:pPr>
            <a:endParaRPr lang="en-US" sz="1600" dirty="0">
              <a:solidFill>
                <a:srgbClr val="BFD7D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BFD7DF"/>
                </a:solidFill>
                <a:latin typeface="Aptos" pitchFamily="34" charset="0"/>
              </a:rPr>
              <a:t>Kevin Ng’ang’a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BFD7DF"/>
                </a:solidFill>
                <a:latin typeface="Aptos" pitchFamily="34" charset="0"/>
              </a:rPr>
              <a:t>Cohort 7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BFD7DF"/>
                </a:solidFill>
                <a:latin typeface="Aptos" pitchFamily="34" charset="0"/>
              </a:rPr>
              <a:t>Data Science &amp; Analytics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BFD7DF"/>
                </a:solidFill>
                <a:latin typeface="Aptos" pitchFamily="34" charset="0"/>
              </a:rPr>
              <a:t>Lux Tech Academy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BFD7DF"/>
                </a:solidFill>
                <a:latin typeface="Aptos" pitchFamily="34" charset="0"/>
              </a:rPr>
              <a:t>30</a:t>
            </a:r>
            <a:r>
              <a:rPr lang="en-US" sz="1600" baseline="30000" dirty="0">
                <a:solidFill>
                  <a:srgbClr val="BFD7DF"/>
                </a:solidFill>
                <a:latin typeface="Aptos" pitchFamily="34" charset="0"/>
              </a:rPr>
              <a:t>th</a:t>
            </a:r>
            <a:r>
              <a:rPr lang="en-US" sz="1600" dirty="0">
                <a:solidFill>
                  <a:srgbClr val="BFD7DF"/>
                </a:solidFill>
                <a:latin typeface="Aptos" pitchFamily="34" charset="0"/>
              </a:rPr>
              <a:t> October 2026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4401156"/>
            <a:ext cx="5852160" cy="0"/>
          </a:xfrm>
          <a:prstGeom prst="line">
            <a:avLst/>
          </a:prstGeom>
          <a:noFill/>
          <a:ln w="15240">
            <a:solidFill>
              <a:srgbClr val="4873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442569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8CF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•  PostgreSQL  •  Statistics  •  Machine Learning  •  Power 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60441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Data Science &amp; Analytics Capstone   |   October 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526280"/>
            <a:ext cx="283464" cy="1280160"/>
          </a:xfrm>
          <a:prstGeom prst="roundRect">
            <a:avLst>
              <a:gd name="adj" fmla="val 25806"/>
            </a:avLst>
          </a:prstGeom>
          <a:solidFill>
            <a:srgbClr val="D6A044"/>
          </a:solidFill>
          <a:ln w="12700">
            <a:solidFill>
              <a:srgbClr val="D6A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3886200"/>
            <a:ext cx="283464" cy="1920240"/>
          </a:xfrm>
          <a:prstGeom prst="roundRect">
            <a:avLst>
              <a:gd name="adj" fmla="val 25806"/>
            </a:avLst>
          </a:prstGeom>
          <a:solidFill>
            <a:srgbClr val="277C78"/>
          </a:solidFill>
          <a:ln w="12700">
            <a:solidFill>
              <a:srgbClr val="277C7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4160520"/>
            <a:ext cx="283464" cy="1645920"/>
          </a:xfrm>
          <a:prstGeom prst="roundRect">
            <a:avLst>
              <a:gd name="adj" fmla="val 25806"/>
            </a:avLst>
          </a:prstGeom>
          <a:solidFill>
            <a:srgbClr val="277C78"/>
          </a:solidFill>
          <a:ln w="12700">
            <a:solidFill>
              <a:srgbClr val="277C7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3246120"/>
            <a:ext cx="283464" cy="2560320"/>
          </a:xfrm>
          <a:prstGeom prst="roundRect">
            <a:avLst>
              <a:gd name="adj" fmla="val 25806"/>
            </a:avLst>
          </a:prstGeom>
          <a:solidFill>
            <a:srgbClr val="D6A044"/>
          </a:solidFill>
          <a:ln w="12700">
            <a:solidFill>
              <a:srgbClr val="D6A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3474720"/>
            <a:ext cx="283464" cy="2331720"/>
          </a:xfrm>
          <a:prstGeom prst="roundRect">
            <a:avLst>
              <a:gd name="adj" fmla="val 25806"/>
            </a:avLst>
          </a:prstGeom>
          <a:solidFill>
            <a:srgbClr val="277C78"/>
          </a:solidFill>
          <a:ln w="12700">
            <a:solidFill>
              <a:srgbClr val="277C7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04120" y="2606040"/>
            <a:ext cx="283464" cy="3200400"/>
          </a:xfrm>
          <a:prstGeom prst="roundRect">
            <a:avLst>
              <a:gd name="adj" fmla="val 25806"/>
            </a:avLst>
          </a:prstGeom>
          <a:solidFill>
            <a:srgbClr val="277C78"/>
          </a:solidFill>
          <a:ln w="12700">
            <a:solidFill>
              <a:srgbClr val="277C7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2880360"/>
            <a:ext cx="283464" cy="2926080"/>
          </a:xfrm>
          <a:prstGeom prst="roundRect">
            <a:avLst>
              <a:gd name="adj" fmla="val 25806"/>
            </a:avLst>
          </a:prstGeom>
          <a:solidFill>
            <a:srgbClr val="D6A044"/>
          </a:solidFill>
          <a:ln w="12700">
            <a:solidFill>
              <a:srgbClr val="D6A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2057400"/>
            <a:ext cx="283464" cy="3749040"/>
          </a:xfrm>
          <a:prstGeom prst="roundRect">
            <a:avLst>
              <a:gd name="adj" fmla="val 25806"/>
            </a:avLst>
          </a:prstGeom>
          <a:solidFill>
            <a:srgbClr val="277C78"/>
          </a:solidFill>
          <a:ln w="12700">
            <a:solidFill>
              <a:srgbClr val="277C7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252728"/>
            <a:ext cx="4251960" cy="42519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4A8C88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868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DE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MONTHS  /  10 STORES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18120" y="6117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7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· Educational 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analysis revealed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numbers a retail manager can act on immediately.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65376"/>
            <a:ext cx="360273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65376"/>
            <a:ext cx="64008" cy="1783080"/>
          </a:xfrm>
          <a:prstGeom prst="rect">
            <a:avLst/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2996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NET REVENUE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 253.97M</a:t>
            </a:r>
            <a:endParaRPr lang="en-US" sz="2840" dirty="0"/>
          </a:p>
        </p:txBody>
      </p:sp>
      <p:sp>
        <p:nvSpPr>
          <p:cNvPr id="10" name="Text 8"/>
          <p:cNvSpPr/>
          <p:nvPr/>
        </p:nvSpPr>
        <p:spPr>
          <a:xfrm>
            <a:off x="786384" y="2935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316,277 transactions across 33 months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306824" y="1865376"/>
            <a:ext cx="3602736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865376"/>
            <a:ext cx="64008" cy="1783080"/>
          </a:xfrm>
          <a:prstGeom prst="rect">
            <a:avLst/>
          </a:prstGeom>
          <a:solidFill>
            <a:srgbClr val="D6A044"/>
          </a:solidFill>
          <a:ln w="12700">
            <a:solidFill>
              <a:srgbClr val="D6A0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02996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AT RISK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517136" y="2350008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4,250</a:t>
            </a:r>
            <a:endParaRPr lang="en-US" sz="2840" dirty="0"/>
          </a:p>
        </p:txBody>
      </p:sp>
      <p:sp>
        <p:nvSpPr>
          <p:cNvPr id="15" name="Text 13"/>
          <p:cNvSpPr/>
          <p:nvPr/>
        </p:nvSpPr>
        <p:spPr>
          <a:xfrm>
            <a:off x="4526280" y="2935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Loyalty customers with last purchase &gt;90 days ago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046720" y="1865376"/>
            <a:ext cx="3575304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65376"/>
            <a:ext cx="64008" cy="1783080"/>
          </a:xfrm>
          <a:prstGeom prst="rect">
            <a:avLst/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02996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 FORECAST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257032" y="2350008"/>
            <a:ext cx="31912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50,136</a:t>
            </a:r>
            <a:endParaRPr lang="en-US" sz="2840" dirty="0"/>
          </a:p>
        </p:txBody>
      </p:sp>
      <p:sp>
        <p:nvSpPr>
          <p:cNvPr id="20" name="Text 18"/>
          <p:cNvSpPr/>
          <p:nvPr/>
        </p:nvSpPr>
        <p:spPr>
          <a:xfrm>
            <a:off x="8266176" y="293522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units across all 10 stores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76072" y="4078224"/>
            <a:ext cx="11036808" cy="1316736"/>
          </a:xfrm>
          <a:prstGeom prst="roundRect">
            <a:avLst>
              <a:gd name="adj" fmla="val 11111"/>
            </a:avLst>
          </a:prstGeom>
          <a:solidFill>
            <a:srgbClr val="E8F5F2"/>
          </a:solidFill>
          <a:ln w="12700">
            <a:solidFill>
              <a:srgbClr val="E8F5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361688"/>
            <a:ext cx="10369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message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104" y="47091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retention, prepare for seasonal shifts, and use store-level forecasts to guide purchasing.</a:t>
            </a:r>
            <a:endParaRPr lang="en-US" sz="1940" dirty="0"/>
          </a:p>
        </p:txBody>
      </p:sp>
      <p:sp>
        <p:nvSpPr>
          <p:cNvPr id="24" name="Text 22"/>
          <p:cNvSpPr/>
          <p:nvPr/>
        </p:nvSpPr>
        <p:spPr>
          <a:xfrm>
            <a:off x="603504" y="5797296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describe a synthetic retailer; figures illustrate an end-to-end analytics workflow.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retail dataset • Jan 2024–Sep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CHALLENGE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questions to evidence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retailer wanted more than totals: it needed information for practical decisions.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874520"/>
            <a:ext cx="536752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574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04672" y="2340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buys, when and how?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Payments, order values and customer groups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6752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574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400800" y="2340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drive revenue?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category and basket-level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" y="3300984"/>
            <a:ext cx="536752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4672" y="34838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168779"/>
                </a:solidFill>
                <a:latin typeface="Aptos" pitchFamily="34" charset="0"/>
              </a:rPr>
              <a:t>STORES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04672" y="3767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stores perform best?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" y="4123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and county comparisons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300984"/>
            <a:ext cx="5367528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4838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11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NEXT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400800" y="3767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customers may leave?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4123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segments and monthly demand forecast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5093208"/>
            <a:ext cx="11009376" cy="804672"/>
          </a:xfrm>
          <a:prstGeom prst="roundRect">
            <a:avLst>
              <a:gd name="adj" fmla="val 13636"/>
            </a:avLst>
          </a:prstGeom>
          <a:solidFill>
            <a:srgbClr val="102C3A"/>
          </a:solidFill>
          <a:ln w="12700">
            <a:solidFill>
              <a:srgbClr val="102C3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294376"/>
            <a:ext cx="10643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stores    •    8 counties    •    19,000 registered customers    •    99 products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retail dataset • Jan 2024–Sep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the numbers before analysing them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pipeline with checks against the original order-level totals.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56232"/>
            <a:ext cx="2587752" cy="142646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84248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0574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</a:t>
            </a:r>
            <a:endParaRPr lang="en-US" sz="187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source CSVs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3227832" y="2359152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447288" y="1856232"/>
            <a:ext cx="2587752" cy="142646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1984248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0574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0168" y="24140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3630168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types, blanks, duplicates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6080760" y="2359152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300216" y="1856232"/>
            <a:ext cx="2587752" cy="142646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3096" y="1984248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0574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83096" y="24140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6483096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 and sales features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8933688" y="2359152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53144" y="1856232"/>
            <a:ext cx="2587752" cy="142646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36024" y="1984248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328" y="20574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36024" y="24140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7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870" dirty="0"/>
          </a:p>
        </p:txBody>
      </p:sp>
      <p:sp>
        <p:nvSpPr>
          <p:cNvPr id="28" name="Text 26"/>
          <p:cNvSpPr/>
          <p:nvPr/>
        </p:nvSpPr>
        <p:spPr>
          <a:xfrm>
            <a:off x="9336024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totals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603504" y="3675888"/>
            <a:ext cx="3447288" cy="164592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3675888"/>
            <a:ext cx="64008" cy="1645920"/>
          </a:xfrm>
          <a:prstGeom prst="rect">
            <a:avLst/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" y="384048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LINES REMOVED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13816" y="416052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989</a:t>
            </a:r>
            <a:endParaRPr lang="en-US" sz="2840" dirty="0"/>
          </a:p>
        </p:txBody>
      </p:sp>
      <p:sp>
        <p:nvSpPr>
          <p:cNvPr id="33" name="Text 31"/>
          <p:cNvSpPr/>
          <p:nvPr/>
        </p:nvSpPr>
        <p:spPr>
          <a:xfrm>
            <a:off x="822960" y="4745736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item IDs removed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4361688" y="3675888"/>
            <a:ext cx="3447288" cy="164592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61688" y="3675888"/>
            <a:ext cx="64008" cy="1645920"/>
          </a:xfrm>
          <a:prstGeom prst="rect">
            <a:avLst/>
          </a:prstGeom>
          <a:solidFill>
            <a:srgbClr val="D6A044"/>
          </a:solidFill>
          <a:ln w="12700">
            <a:solidFill>
              <a:srgbClr val="D6A04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84048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ITEM PRICES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4572000" y="416052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1,648</a:t>
            </a:r>
            <a:endParaRPr lang="en-US" sz="2840" dirty="0"/>
          </a:p>
        </p:txBody>
      </p:sp>
      <p:sp>
        <p:nvSpPr>
          <p:cNvPr id="38" name="Text 36"/>
          <p:cNvSpPr/>
          <p:nvPr/>
        </p:nvSpPr>
        <p:spPr>
          <a:xfrm>
            <a:off x="4581144" y="4745736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Addressed using transaction values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8129016" y="3675888"/>
            <a:ext cx="3447288" cy="164592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29016" y="3675888"/>
            <a:ext cx="64008" cy="1645920"/>
          </a:xfrm>
          <a:prstGeom prst="rect">
            <a:avLst/>
          </a:prstGeom>
          <a:solidFill>
            <a:srgbClr val="D6A044"/>
          </a:solidFill>
          <a:ln w="12700">
            <a:solidFill>
              <a:srgbClr val="D6A04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9328" y="384048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QUANTITIES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8339328" y="416052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412</a:t>
            </a:r>
            <a:endParaRPr lang="en-US" sz="2840" dirty="0"/>
          </a:p>
        </p:txBody>
      </p:sp>
      <p:sp>
        <p:nvSpPr>
          <p:cNvPr id="43" name="Text 41"/>
          <p:cNvSpPr/>
          <p:nvPr/>
        </p:nvSpPr>
        <p:spPr>
          <a:xfrm>
            <a:off x="8348472" y="4745736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after review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685800" y="5596128"/>
            <a:ext cx="10927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Validation: both tables reconcile to KES 253,971,298.29 and 1,227,235 units.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retail dataset • Jan 2024–Sep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grew, with a seasonal December peak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net sales across the 33-month period.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746504"/>
            <a:ext cx="10954512" cy="3630168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pic>
        <p:nvPicPr>
          <p:cNvPr id="7" name="Image 0" descr="/mnt/data/deck_assets/monthl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65376"/>
            <a:ext cx="10488168" cy="33009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" y="5577840"/>
            <a:ext cx="10954512" cy="585216"/>
          </a:xfrm>
          <a:prstGeom prst="roundRect">
            <a:avLst>
              <a:gd name="adj" fmla="val 12500"/>
            </a:avLst>
          </a:prstGeom>
          <a:solidFill>
            <a:srgbClr val="E8F5F2"/>
          </a:solidFill>
          <a:ln w="12700">
            <a:solidFill>
              <a:srgbClr val="E8F5F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57332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Observation: revenue rises over time; December 2024 and 2025 show noticeable holiday-period spikes.</a:t>
            </a:r>
            <a:endParaRPr lang="en-US" sz="1340" dirty="0"/>
          </a:p>
        </p:txBody>
      </p:sp>
      <p:sp>
        <p:nvSpPr>
          <p:cNvPr id="10" name="Shape 7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table • Sum of net_amount_kes by calendar month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DRIVERS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money comes from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stores and product categories by net revenue.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28216"/>
            <a:ext cx="544068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0488" y="1728216"/>
            <a:ext cx="544068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911096"/>
            <a:ext cx="5010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revenue</a:t>
            </a:r>
            <a:endParaRPr lang="en-US" sz="1780" dirty="0"/>
          </a:p>
        </p:txBody>
      </p:sp>
      <p:sp>
        <p:nvSpPr>
          <p:cNvPr id="9" name="Text 7"/>
          <p:cNvSpPr/>
          <p:nvPr/>
        </p:nvSpPr>
        <p:spPr>
          <a:xfrm>
            <a:off x="6391656" y="1911096"/>
            <a:ext cx="5010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revenue</a:t>
            </a:r>
            <a:endParaRPr lang="en-US" sz="1780" dirty="0"/>
          </a:p>
        </p:txBody>
      </p:sp>
      <p:pic>
        <p:nvPicPr>
          <p:cNvPr id="10" name="Image 0" descr="/mnt/data/deck_assets/store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9424"/>
            <a:ext cx="5212080" cy="3456432"/>
          </a:xfrm>
          <a:prstGeom prst="rect">
            <a:avLst/>
          </a:prstGeom>
        </p:spPr>
      </p:pic>
      <p:pic>
        <p:nvPicPr>
          <p:cNvPr id="11" name="Image 1" descr="/mnt/data/deck_assets/category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249424"/>
            <a:ext cx="5202936" cy="3456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" y="6099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Ngara: KES 37.62M in revenue    |    Staples: KES 65.08M in revenue</a:t>
            </a:r>
            <a:endParaRPr lang="en-US" sz="1320" dirty="0"/>
          </a:p>
        </p:txBody>
      </p:sp>
      <p:sp>
        <p:nvSpPr>
          <p:cNvPr id="13" name="Shape 9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and deduplicated order items • Net revenue in KES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INTELLIGENCE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customer value and retention risk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= recency (last purchase), frequency (order count) and monetary value (spend).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764792"/>
            <a:ext cx="7004304" cy="409651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75104"/>
            <a:ext cx="6300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by RFM segment</a:t>
            </a:r>
            <a:endParaRPr lang="en-US" sz="1750" dirty="0"/>
          </a:p>
        </p:txBody>
      </p:sp>
      <p:pic>
        <p:nvPicPr>
          <p:cNvPr id="8" name="Image 0" descr="/mnt/data/deck_assets/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359152"/>
            <a:ext cx="6492240" cy="31912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81544" y="1773936"/>
            <a:ext cx="3767328" cy="1207008"/>
          </a:xfrm>
          <a:prstGeom prst="roundRect">
            <a:avLst>
              <a:gd name="adj" fmla="val 11364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0144" y="199339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8F65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AT-RISK CUSTOMER COUNT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10144" y="231343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4,250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7781544" y="3127248"/>
            <a:ext cx="3767328" cy="1207008"/>
          </a:xfrm>
          <a:prstGeom prst="roundRect">
            <a:avLst>
              <a:gd name="adj" fmla="val 11364"/>
            </a:avLst>
          </a:prstGeom>
          <a:solidFill>
            <a:srgbClr val="E8F5F2"/>
          </a:solidFill>
          <a:ln w="12700">
            <a:solidFill>
              <a:srgbClr val="E8F5F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10144" y="336499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CUSTOMERS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10144" y="3666744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1,814</a:t>
            </a: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7808976" y="4636008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Segments cover 16,070 customers with recorded purchases; guest checkouts are not assigned an RFM segment.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RFM analysis • Recency measured at 30 Sep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differences are supported by the data?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Welch’s t-tests compare average order values; 95% confidence intervals show uncertainty.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783080"/>
            <a:ext cx="534924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783080"/>
            <a:ext cx="534924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75104"/>
            <a:ext cx="1874520" cy="274320"/>
          </a:xfrm>
          <a:prstGeom prst="roundRect">
            <a:avLst>
              <a:gd name="adj" fmla="val 40000"/>
            </a:avLst>
          </a:prstGeom>
          <a:solidFill>
            <a:srgbClr val="607789"/>
          </a:solidFill>
          <a:ln w="12700">
            <a:solidFill>
              <a:srgbClr val="60778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482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SIGNIFICANT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3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M-Pesa vs other payments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868680" y="2980944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 803.67  vs  801.91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877824" y="36667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difference  +KES 1.76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1696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0.409  •  CI [−2.42, 5.94]</a:t>
            </a:r>
            <a:endParaRPr lang="en-US" sz="1510" dirty="0"/>
          </a:p>
        </p:txBody>
      </p:sp>
      <p:sp>
        <p:nvSpPr>
          <p:cNvPr id="14" name="Text 12"/>
          <p:cNvSpPr/>
          <p:nvPr/>
        </p:nvSpPr>
        <p:spPr>
          <a:xfrm>
            <a:off x="868680" y="4736592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clear evidence that M-Pesa orders have a different average value.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428232" y="1975104"/>
            <a:ext cx="1472184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4536" y="20482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37376" y="2423160"/>
            <a:ext cx="4690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3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Promotions vs no promotion</a:t>
            </a:r>
            <a:endParaRPr lang="en-US" sz="2030" dirty="0"/>
          </a:p>
        </p:txBody>
      </p:sp>
      <p:sp>
        <p:nvSpPr>
          <p:cNvPr id="18" name="Text 16"/>
          <p:cNvSpPr/>
          <p:nvPr/>
        </p:nvSpPr>
        <p:spPr>
          <a:xfrm>
            <a:off x="6437376" y="2980944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 941.43  vs  751.71</a:t>
            </a:r>
            <a:endParaRPr lang="en-US" sz="2350" dirty="0"/>
          </a:p>
        </p:txBody>
      </p:sp>
      <p:sp>
        <p:nvSpPr>
          <p:cNvPr id="19" name="Text 17"/>
          <p:cNvSpPr/>
          <p:nvPr/>
        </p:nvSpPr>
        <p:spPr>
          <a:xfrm>
            <a:off x="6437376" y="36667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difference  +KES 189.72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37376" y="416966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&lt; 0.001  •  CI [185.03, 194.41]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6437376" y="473659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orders are associated with higher spending; this does not prove causation.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694944" y="599846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Assumptions: large groups support mean comparisons; skewness and repeat purchasers limit strict independence.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Welch’s independent-samples t-tests • Synthetic transactions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demand without looking into the future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Store-level monthly unit sales, using historical features and time-aware splits.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83664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9397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kern="0" spc="11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77824" y="2432304"/>
            <a:ext cx="31729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1, 2 and 3 months</a:t>
            </a:r>
            <a:endParaRPr lang="en-US" sz="1530" dirty="0"/>
          </a:p>
          <a:p>
            <a:pPr marL="0" indent="0">
              <a:buNone/>
            </a:pPr>
            <a:r>
              <a:rPr lang="en-US" sz="153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units sold + calendar month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4480560" y="1883664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209397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kern="0" spc="11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700016" y="2432304"/>
            <a:ext cx="31729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month = previous</a:t>
            </a:r>
            <a:endParaRPr lang="en-US" sz="1530" dirty="0"/>
          </a:p>
          <a:p>
            <a:pPr marL="0" indent="0">
              <a:buNone/>
            </a:pPr>
            <a:r>
              <a:rPr lang="en-US" sz="153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month’s units sold</a:t>
            </a:r>
            <a:endParaRPr lang="en-US" sz="1530" dirty="0"/>
          </a:p>
        </p:txBody>
      </p:sp>
      <p:sp>
        <p:nvSpPr>
          <p:cNvPr id="12" name="Shape 10"/>
          <p:cNvSpPr/>
          <p:nvPr/>
        </p:nvSpPr>
        <p:spPr>
          <a:xfrm>
            <a:off x="8302752" y="1883664"/>
            <a:ext cx="3547872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09397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kern="0" spc="11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22208" y="2432304"/>
            <a:ext cx="31729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530" dirty="0"/>
          </a:p>
          <a:p>
            <a:pPr marL="0" indent="0">
              <a:buNone/>
            </a:pPr>
            <a:r>
              <a:rPr lang="en-US" sz="153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decision trees</a:t>
            </a:r>
            <a:endParaRPr lang="en-US" sz="1530" dirty="0"/>
          </a:p>
        </p:txBody>
      </p:sp>
      <p:sp>
        <p:nvSpPr>
          <p:cNvPr id="15" name="Text 13"/>
          <p:cNvSpPr/>
          <p:nvPr/>
        </p:nvSpPr>
        <p:spPr>
          <a:xfrm>
            <a:off x="685800" y="359359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evaluation</a:t>
            </a:r>
            <a:endParaRPr lang="en-US" sz="1940" dirty="0"/>
          </a:p>
        </p:txBody>
      </p:sp>
      <p:sp>
        <p:nvSpPr>
          <p:cNvPr id="16" name="Shape 14"/>
          <p:cNvSpPr/>
          <p:nvPr/>
        </p:nvSpPr>
        <p:spPr>
          <a:xfrm>
            <a:off x="676656" y="4041648"/>
            <a:ext cx="5788152" cy="1261872"/>
          </a:xfrm>
          <a:prstGeom prst="roundRect">
            <a:avLst>
              <a:gd name="adj" fmla="val 8696"/>
            </a:avLst>
          </a:prstGeom>
          <a:solidFill>
            <a:srgbClr val="83BAB3"/>
          </a:solidFill>
          <a:ln w="12700">
            <a:solidFill>
              <a:srgbClr val="83BAB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42816"/>
            <a:ext cx="5468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868680" y="4599432"/>
            <a:ext cx="5513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2024 – Mar 2026</a:t>
            </a:r>
            <a:endParaRPr lang="en-US" sz="1460" dirty="0"/>
          </a:p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162 store-month rows</a:t>
            </a:r>
            <a:endParaRPr lang="en-US" sz="1460" dirty="0"/>
          </a:p>
        </p:txBody>
      </p:sp>
      <p:sp>
        <p:nvSpPr>
          <p:cNvPr id="19" name="Shape 17"/>
          <p:cNvSpPr/>
          <p:nvPr/>
        </p:nvSpPr>
        <p:spPr>
          <a:xfrm>
            <a:off x="6519672" y="4041648"/>
            <a:ext cx="2468880" cy="1261872"/>
          </a:xfrm>
          <a:prstGeom prst="roundRect">
            <a:avLst>
              <a:gd name="adj" fmla="val 8696"/>
            </a:avLst>
          </a:prstGeom>
          <a:solidFill>
            <a:srgbClr val="D6A044"/>
          </a:solidFill>
          <a:ln w="12700">
            <a:solidFill>
              <a:srgbClr val="D6A04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424281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711696" y="4599432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– Jun 2026</a:t>
            </a:r>
            <a:endParaRPr lang="en-US" sz="1460" dirty="0"/>
          </a:p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rows</a:t>
            </a:r>
            <a:endParaRPr lang="en-US" sz="1460" dirty="0"/>
          </a:p>
        </p:txBody>
      </p:sp>
      <p:sp>
        <p:nvSpPr>
          <p:cNvPr id="22" name="Shape 20"/>
          <p:cNvSpPr/>
          <p:nvPr/>
        </p:nvSpPr>
        <p:spPr>
          <a:xfrm>
            <a:off x="9070848" y="4041648"/>
            <a:ext cx="2423160" cy="1261872"/>
          </a:xfrm>
          <a:prstGeom prst="roundRect">
            <a:avLst>
              <a:gd name="adj" fmla="val 8696"/>
            </a:avLst>
          </a:prstGeom>
          <a:solidFill>
            <a:srgbClr val="102C3A"/>
          </a:solidFill>
          <a:ln w="12700">
            <a:solidFill>
              <a:srgbClr val="102C3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424281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9262872" y="4599432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– Sep 2026</a:t>
            </a:r>
            <a:endParaRPr lang="en-US" sz="1460" dirty="0"/>
          </a:p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rows</a:t>
            </a:r>
            <a:endParaRPr lang="en-US" sz="1460" dirty="0"/>
          </a:p>
        </p:txBody>
      </p:sp>
      <p:sp>
        <p:nvSpPr>
          <p:cNvPr id="25" name="Text 23"/>
          <p:cNvSpPr/>
          <p:nvPr/>
        </p:nvSpPr>
        <p:spPr>
          <a:xfrm>
            <a:off x="694944" y="5705856"/>
            <a:ext cx="10789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evaluate rolling one-month-ahead predictions: prior months’ actual sales are available when each prediction is made.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stores; shorter histories for newer branches; 219 eligible store-month records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Random Forest beats the simple baseline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test set: July–September 2026 (30 store-month observations).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773936"/>
            <a:ext cx="7461504" cy="4197096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pic>
        <p:nvPicPr>
          <p:cNvPr id="7" name="Image 0" descr="/mnt/data/deck_assets/model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011680"/>
            <a:ext cx="7059168" cy="36027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66176" y="1773936"/>
            <a:ext cx="3273552" cy="1645920"/>
          </a:xfrm>
          <a:prstGeom prst="roundRect">
            <a:avLst>
              <a:gd name="adj" fmla="val 8333"/>
            </a:avLst>
          </a:prstGeom>
          <a:solidFill>
            <a:srgbClr val="E8F5F2"/>
          </a:solidFill>
          <a:ln w="12700">
            <a:solidFill>
              <a:srgbClr val="E8F5F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13064" y="202082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IMPROVEMENT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13064" y="243230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41.9%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8266176" y="3611880"/>
            <a:ext cx="3273552" cy="2130552"/>
          </a:xfrm>
          <a:prstGeom prst="roundRect">
            <a:avLst>
              <a:gd name="adj" fmla="val 686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6488" y="3822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gets wrong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476488" y="4297680"/>
            <a:ext cx="27523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S001 (Ngara), Aug 2026: forecast 5,643 vs actual 6,400 — an underprediction of 757 units. August spikes were difficult to anticipate.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and RMSE are in units per store-month; lower is better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FORECAST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2026: 50,136 predicted units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reflects estimated units sold, not guaranteed demand or required inventory.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46504"/>
            <a:ext cx="7882128" cy="4334256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pic>
        <p:nvPicPr>
          <p:cNvPr id="7" name="Image 0" descr="/mnt/data/deck_assets/october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83664"/>
            <a:ext cx="7479792" cy="40416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59368" y="1755648"/>
            <a:ext cx="2871216" cy="1764792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59368" y="1755648"/>
            <a:ext cx="64008" cy="1764792"/>
          </a:xfrm>
          <a:prstGeom prst="rect">
            <a:avLst/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192024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kern="0" spc="8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OCTOBER UNITS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8869680" y="2240280"/>
            <a:ext cx="24871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4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50,136</a:t>
            </a:r>
            <a:endParaRPr lang="en-US" sz="2840" dirty="0"/>
          </a:p>
        </p:txBody>
      </p:sp>
      <p:sp>
        <p:nvSpPr>
          <p:cNvPr id="12" name="Text 9"/>
          <p:cNvSpPr/>
          <p:nvPr/>
        </p:nvSpPr>
        <p:spPr>
          <a:xfrm>
            <a:off x="8878824" y="282549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10 stores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8659368" y="3712464"/>
            <a:ext cx="2862072" cy="1097280"/>
          </a:xfrm>
          <a:prstGeom prst="roundRect">
            <a:avLst>
              <a:gd name="adj" fmla="val 10833"/>
            </a:avLst>
          </a:prstGeom>
          <a:solidFill>
            <a:srgbClr val="E8F5F2"/>
          </a:solidFill>
          <a:ln w="12700">
            <a:solidFill>
              <a:srgbClr val="E8F5F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391363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FORECAST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869680" y="426110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Nyali · 5,393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659368" y="4946904"/>
            <a:ext cx="2862072" cy="1097280"/>
          </a:xfrm>
          <a:prstGeom prst="roundRect">
            <a:avLst>
              <a:gd name="adj" fmla="val 10833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0" y="51389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F65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FORECAST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869680" y="5495544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Kitengela · 4,546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retail dataset • Jan 2024–Sep 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DASHBOARD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analysis to an interactive report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combines KPIs, store trends, product categories, customer segments and forecasts.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856232"/>
            <a:ext cx="5477256" cy="3968496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63056" y="1856232"/>
            <a:ext cx="5440680" cy="3968496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075688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  /  SALES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73368" y="20756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2  /  CUSTOMER &amp; FORECAST</a:t>
            </a:r>
            <a:endParaRPr lang="en-US" sz="1200" dirty="0"/>
          </a:p>
        </p:txBody>
      </p:sp>
      <p:pic>
        <p:nvPicPr>
          <p:cNvPr id="10" name="Image 0" descr="/mnt/data/deck_assets/sales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542032"/>
            <a:ext cx="5074920" cy="2670048"/>
          </a:xfrm>
          <a:prstGeom prst="rect">
            <a:avLst/>
          </a:prstGeom>
        </p:spPr>
      </p:pic>
      <p:pic>
        <p:nvPicPr>
          <p:cNvPr id="11" name="Image 1" descr="/mnt/data/deck_assets/customers_dashboar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42032"/>
            <a:ext cx="5065776" cy="2670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539496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County slicer filters sales KPIs and charts.</a:t>
            </a:r>
            <a:endParaRPr lang="en-US" sz="1240" dirty="0"/>
          </a:p>
        </p:txBody>
      </p:sp>
      <p:sp>
        <p:nvSpPr>
          <p:cNvPr id="13" name="Text 9"/>
          <p:cNvSpPr/>
          <p:nvPr/>
        </p:nvSpPr>
        <p:spPr>
          <a:xfrm>
            <a:off x="6373368" y="5394960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RFM counts are overall; forecasts are shown by store.</a:t>
            </a:r>
            <a:endParaRPr lang="en-US" sz="1240" dirty="0"/>
          </a:p>
        </p:txBody>
      </p:sp>
      <p:sp>
        <p:nvSpPr>
          <p:cNvPr id="14" name="Text 10"/>
          <p:cNvSpPr/>
          <p:nvPr/>
        </p:nvSpPr>
        <p:spPr>
          <a:xfrm>
            <a:off x="658368" y="60076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as an editable Power BI .pbix file plus screenshots in dashboard/screenshots/.</a:t>
            </a:r>
            <a:endParaRPr lang="en-US" sz="1240" dirty="0"/>
          </a:p>
        </p:txBody>
      </p:sp>
      <p:sp>
        <p:nvSpPr>
          <p:cNvPr id="15" name="Shape 11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from the Power BI dashboard developed for this project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results into store-manager actions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decisions that can be measured and revisited.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810512"/>
            <a:ext cx="5367528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75104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482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36829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86384" y="2779776"/>
            <a:ext cx="4864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5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the 4,250 at-risk customers with targeted offers.</a:t>
            </a:r>
            <a:endParaRPr lang="en-US" sz="1225" dirty="0"/>
          </a:p>
        </p:txBody>
      </p:sp>
      <p:sp>
        <p:nvSpPr>
          <p:cNvPr id="11" name="Text 9"/>
          <p:cNvSpPr/>
          <p:nvPr/>
        </p:nvSpPr>
        <p:spPr>
          <a:xfrm>
            <a:off x="4270248" y="1975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1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199632" y="1810512"/>
            <a:ext cx="5367528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975104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0482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82512" y="236829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82512" y="2779776"/>
            <a:ext cx="4864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5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October store forecasts as a planning starting point.</a:t>
            </a:r>
            <a:endParaRPr lang="en-US" sz="1225" dirty="0"/>
          </a:p>
        </p:txBody>
      </p:sp>
      <p:sp>
        <p:nvSpPr>
          <p:cNvPr id="17" name="Text 15"/>
          <p:cNvSpPr/>
          <p:nvPr/>
        </p:nvSpPr>
        <p:spPr>
          <a:xfrm>
            <a:off x="9866376" y="1975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1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OPERATIONS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603504" y="3511296"/>
            <a:ext cx="5367528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675888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74904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" y="40690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Assortment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86384" y="4480560"/>
            <a:ext cx="4864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5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availability in Staples, the top-revenue category.</a:t>
            </a:r>
            <a:endParaRPr lang="en-US" sz="1225" dirty="0"/>
          </a:p>
        </p:txBody>
      </p:sp>
      <p:sp>
        <p:nvSpPr>
          <p:cNvPr id="23" name="Text 21"/>
          <p:cNvSpPr/>
          <p:nvPr/>
        </p:nvSpPr>
        <p:spPr>
          <a:xfrm>
            <a:off x="4270248" y="3675888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1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MERCHANDISING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6199632" y="3511296"/>
            <a:ext cx="5367528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2512" y="3675888"/>
            <a:ext cx="731520" cy="274320"/>
          </a:xfrm>
          <a:prstGeom prst="roundRect">
            <a:avLst>
              <a:gd name="adj" fmla="val 40000"/>
            </a:avLst>
          </a:prstGeom>
          <a:solidFill>
            <a:srgbClr val="168779"/>
          </a:solidFill>
          <a:ln w="12700">
            <a:solidFill>
              <a:srgbClr val="16877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74904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82512" y="40690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Seasonality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82512" y="4480560"/>
            <a:ext cx="4864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5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inventory and staffing for year-end sales peaks.</a:t>
            </a:r>
            <a:endParaRPr lang="en-US" sz="1225" dirty="0"/>
          </a:p>
        </p:txBody>
      </p:sp>
      <p:sp>
        <p:nvSpPr>
          <p:cNvPr id="29" name="Text 27"/>
          <p:cNvSpPr/>
          <p:nvPr/>
        </p:nvSpPr>
        <p:spPr>
          <a:xfrm>
            <a:off x="9866376" y="3675888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10" b="1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03504" y="5477256"/>
            <a:ext cx="10972800" cy="566928"/>
          </a:xfrm>
          <a:prstGeom prst="roundRect">
            <a:avLst>
              <a:gd name="adj" fmla="val 16129"/>
            </a:avLst>
          </a:prstGeom>
          <a:solidFill>
            <a:srgbClr val="E8F5F2"/>
          </a:solidFill>
          <a:ln w="12700">
            <a:solidFill>
              <a:srgbClr val="E8F5F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5623560"/>
            <a:ext cx="10488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principle: treat forecasts and segments as signals for action — then monitor actual outcomes.</a:t>
            </a:r>
            <a:endParaRPr lang="en-US" sz="1360" dirty="0"/>
          </a:p>
        </p:txBody>
      </p:sp>
      <p:sp>
        <p:nvSpPr>
          <p:cNvPr id="32" name="Shape 30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retail dataset • Jan 2024–Sep 2026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 &amp; LIMITATIONS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project someone else can run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76072" y="112471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data, SQL evidence, Power BI file and visual documentation are kept together.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" y="1536192"/>
            <a:ext cx="11064240" cy="0"/>
          </a:xfrm>
          <a:prstGeom prst="line">
            <a:avLst/>
          </a:prstGeom>
          <a:noFill/>
          <a:ln w="8890">
            <a:solidFill>
              <a:srgbClr val="E3E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792224"/>
            <a:ext cx="6327648" cy="4306824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 w="8890">
            <a:solidFill>
              <a:srgbClr val="E3E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299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in this order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2587752"/>
            <a:ext cx="5641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5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Clone the GitHub repository and create .venv</a:t>
            </a:r>
            <a:endParaRPr lang="en-US" sz="1315" dirty="0"/>
          </a:p>
        </p:txBody>
      </p:sp>
      <p:sp>
        <p:nvSpPr>
          <p:cNvPr id="9" name="Shape 7"/>
          <p:cNvSpPr/>
          <p:nvPr/>
        </p:nvSpPr>
        <p:spPr>
          <a:xfrm>
            <a:off x="877824" y="3008376"/>
            <a:ext cx="5641848" cy="0"/>
          </a:xfrm>
          <a:prstGeom prst="line">
            <a:avLst/>
          </a:prstGeom>
          <a:noFill/>
          <a:ln w="6350">
            <a:solidFill>
              <a:srgbClr val="E3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154680"/>
            <a:ext cx="5641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5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Install packages from requirements.txt</a:t>
            </a:r>
            <a:endParaRPr lang="en-US" sz="1315" dirty="0"/>
          </a:p>
        </p:txBody>
      </p:sp>
      <p:sp>
        <p:nvSpPr>
          <p:cNvPr id="11" name="Shape 9"/>
          <p:cNvSpPr/>
          <p:nvPr/>
        </p:nvSpPr>
        <p:spPr>
          <a:xfrm>
            <a:off x="877824" y="3575304"/>
            <a:ext cx="5641848" cy="0"/>
          </a:xfrm>
          <a:prstGeom prst="line">
            <a:avLst/>
          </a:prstGeom>
          <a:noFill/>
          <a:ln w="6350">
            <a:solidFill>
              <a:srgbClr val="E3E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721608"/>
            <a:ext cx="5641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5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Run notebooks/01 through notebooks/04</a:t>
            </a:r>
            <a:endParaRPr lang="en-US" sz="1315" dirty="0"/>
          </a:p>
        </p:txBody>
      </p:sp>
      <p:sp>
        <p:nvSpPr>
          <p:cNvPr id="13" name="Shape 11"/>
          <p:cNvSpPr/>
          <p:nvPr/>
        </p:nvSpPr>
        <p:spPr>
          <a:xfrm>
            <a:off x="877824" y="4142232"/>
            <a:ext cx="5641848" cy="0"/>
          </a:xfrm>
          <a:prstGeom prst="line">
            <a:avLst/>
          </a:prstGeom>
          <a:noFill/>
          <a:ln w="6350">
            <a:solidFill>
              <a:srgbClr val="E3E9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88536"/>
            <a:ext cx="5641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5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Import cleaned CSVs into PostgreSQL; run SQL file</a:t>
            </a:r>
            <a:endParaRPr lang="en-US" sz="1315" dirty="0"/>
          </a:p>
        </p:txBody>
      </p:sp>
      <p:sp>
        <p:nvSpPr>
          <p:cNvPr id="15" name="Shape 13"/>
          <p:cNvSpPr/>
          <p:nvPr/>
        </p:nvSpPr>
        <p:spPr>
          <a:xfrm>
            <a:off x="877824" y="4709160"/>
            <a:ext cx="5641848" cy="0"/>
          </a:xfrm>
          <a:prstGeom prst="line">
            <a:avLst/>
          </a:prstGeom>
          <a:noFill/>
          <a:ln w="6350">
            <a:solidFill>
              <a:srgbClr val="E3E9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855464"/>
            <a:ext cx="5641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5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Open dashboard/Mwangaza_MiniMart_Dashboard.pbix</a:t>
            </a:r>
            <a:endParaRPr lang="en-US" sz="1315" dirty="0"/>
          </a:p>
        </p:txBody>
      </p:sp>
      <p:sp>
        <p:nvSpPr>
          <p:cNvPr id="17" name="Shape 15"/>
          <p:cNvSpPr/>
          <p:nvPr/>
        </p:nvSpPr>
        <p:spPr>
          <a:xfrm>
            <a:off x="877824" y="5276088"/>
            <a:ext cx="5641848" cy="0"/>
          </a:xfrm>
          <a:prstGeom prst="line">
            <a:avLst/>
          </a:prstGeom>
          <a:noFill/>
          <a:ln w="6350">
            <a:solidFill>
              <a:srgbClr val="E3E9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4888" y="1792224"/>
            <a:ext cx="4462272" cy="2084832"/>
          </a:xfrm>
          <a:prstGeom prst="roundRect">
            <a:avLst>
              <a:gd name="adj" fmla="val 6579"/>
            </a:avLst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42632" y="2029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with care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51776" y="2578608"/>
            <a:ext cx="3858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purchases, historical population data, non-causal comparisons and imperfect forecasts limit real-world claims.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7104888" y="4069080"/>
            <a:ext cx="4462272" cy="2029968"/>
          </a:xfrm>
          <a:prstGeom prst="roundRect">
            <a:avLst>
              <a:gd name="adj" fmla="val 6757"/>
            </a:avLst>
          </a:prstGeom>
          <a:solidFill>
            <a:srgbClr val="E8F5F2"/>
          </a:solidFill>
          <a:ln w="12700">
            <a:solidFill>
              <a:srgbClr val="E8F5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4315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32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repository</a:t>
            </a:r>
            <a:endParaRPr lang="en-US" sz="1800" dirty="0"/>
          </a:p>
        </p:txBody>
      </p:sp>
      <p:sp>
        <p:nvSpPr>
          <p:cNvPr id="23" name="Text 21">
            <a:hlinkClick r:id="rId3"/>
          </p:cNvPr>
          <p:cNvSpPr/>
          <p:nvPr/>
        </p:nvSpPr>
        <p:spPr>
          <a:xfrm>
            <a:off x="7351776" y="4782312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90" u="sng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github.com/OleSuyaye/</a:t>
            </a:r>
            <a:endParaRPr lang="en-US" sz="1290" dirty="0"/>
          </a:p>
          <a:p>
            <a:pPr marL="0" indent="0">
              <a:buNone/>
            </a:pPr>
            <a:r>
              <a:rPr lang="en-US" sz="1290" u="sng" dirty="0">
                <a:solidFill>
                  <a:srgbClr val="16877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kenyan_retailer_customer_sales_intelligence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7351776" y="56509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Questions?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557784" y="6455664"/>
            <a:ext cx="11064240" cy="0"/>
          </a:xfrm>
          <a:prstGeom prst="line">
            <a:avLst/>
          </a:prstGeom>
          <a:noFill/>
          <a:ln w="10160">
            <a:solidFill>
              <a:srgbClr val="E3E9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65105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capstone • Findings and forecast from a fictional retailer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36808" y="6492240"/>
            <a:ext cx="566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1183</Words>
  <Application>Microsoft Office PowerPoint</Application>
  <PresentationFormat>Widescreen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 Science and Analytics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Mwangaza MiniMart | Customer and Sales Intelligence</dc:title>
  <dc:subject>Customer and Sales Intelligence for a Kenyan Retailer</dc:subject>
  <dc:creator>Capstone Project</dc:creator>
  <cp:lastModifiedBy>hp</cp:lastModifiedBy>
  <cp:revision>4</cp:revision>
  <dcterms:created xsi:type="dcterms:W3CDTF">2026-10-30T17:20:38Z</dcterms:created>
  <dcterms:modified xsi:type="dcterms:W3CDTF">2026-10-30T17:31:39Z</dcterms:modified>
</cp:coreProperties>
</file>